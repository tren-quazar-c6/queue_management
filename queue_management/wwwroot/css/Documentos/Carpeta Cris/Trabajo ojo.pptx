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72E02-1D7F-A08F-49F6-4542956B0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777" y="1293581"/>
            <a:ext cx="7766936" cy="1646302"/>
          </a:xfrm>
        </p:spPr>
        <p:txBody>
          <a:bodyPr/>
          <a:lstStyle/>
          <a:p>
            <a:pPr algn="ctr"/>
            <a:r>
              <a:rPr lang="es-MX" sz="8000" dirty="0"/>
              <a:t>EL OJO </a:t>
            </a:r>
            <a:endParaRPr lang="es-CO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7D514E-988E-21C6-2A72-59A6F2DC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Presentado por:</a:t>
            </a:r>
          </a:p>
          <a:p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Astrid Aguirre</a:t>
            </a:r>
          </a:p>
          <a:p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Yuliana valencia</a:t>
            </a:r>
          </a:p>
          <a:p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Isabel cristina perez </a:t>
            </a:r>
          </a:p>
        </p:txBody>
      </p:sp>
    </p:spTree>
    <p:extLst>
      <p:ext uri="{BB962C8B-B14F-4D97-AF65-F5344CB8AC3E}">
        <p14:creationId xmlns:p14="http://schemas.microsoft.com/office/powerpoint/2010/main" val="260726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6EC7A-EC3A-549C-A120-41354E50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PARTES DEL OJO (EXTERNA)</a:t>
            </a:r>
            <a:br>
              <a:rPr lang="es-MX" dirty="0"/>
            </a:br>
            <a:br>
              <a:rPr lang="es-MX" dirty="0"/>
            </a:br>
            <a:r>
              <a:rPr lang="es-MX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-IRIS: </a:t>
            </a:r>
            <a:r>
              <a:rPr lang="es-MX" sz="18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ayuda a controlar el tamaño de la pupila para permitir la entrada de más o menos luz en el ojo.</a:t>
            </a:r>
            <a:br>
              <a:rPr lang="es-MX" sz="18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PUPILA: </a:t>
            </a:r>
            <a:r>
              <a:rPr lang="es-MX" sz="18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dirty="0">
                <a:solidFill>
                  <a:srgbClr val="1B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</a:t>
            </a:r>
            <a:r>
              <a:rPr lang="es-MX" sz="18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upila cambia de tamaño para regular la cantidad de luz que entra al ojo. Se hace más pequeña ante una luz brillante y tiende a agrandarse a medida que la cantidad de luz disminuye.</a:t>
            </a:r>
            <a:br>
              <a:rPr lang="es-MX" sz="18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Esclera: </a:t>
            </a:r>
            <a:r>
              <a:rPr lang="es-CO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estructura que protege todos sus elementos internos.</a:t>
            </a:r>
            <a:br>
              <a:rPr lang="es-CO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CO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CO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Lagrimal: </a:t>
            </a:r>
            <a:r>
              <a:rPr lang="es-MX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humedecen, lubrican y protegen la superficie del ojo</a:t>
            </a:r>
            <a:br>
              <a:rPr lang="es-MX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conjuntiva: </a:t>
            </a:r>
            <a:r>
              <a:rPr lang="es-CO" sz="1800" b="0" i="0" dirty="0">
                <a:solidFill>
                  <a:srgbClr val="4A4A4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proteger de agentes externos al globo ocular</a:t>
            </a:r>
            <a:br>
              <a:rPr lang="es-CO" sz="1100" b="0" i="0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</a:br>
            <a:br>
              <a:rPr lang="es-MX" sz="20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2000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pupila cambia </a:t>
            </a:r>
            <a:r>
              <a:rPr lang="es-MX" sz="1000" b="0" i="0" dirty="0">
                <a:solidFill>
                  <a:srgbClr val="FFFFFF"/>
                </a:solidFill>
                <a:effectLst/>
                <a:latin typeface="Google Sans"/>
              </a:rPr>
              <a:t>de tamaño para regular la cantidad de luz que entra al ojo</a:t>
            </a:r>
            <a:r>
              <a:rPr lang="es-MX" sz="1000" b="0" i="0" dirty="0">
                <a:solidFill>
                  <a:srgbClr val="E8E8E8"/>
                </a:solidFill>
                <a:effectLst/>
                <a:latin typeface="Google Sans"/>
              </a:rPr>
              <a:t>.</a:t>
            </a:r>
            <a:br>
              <a:rPr lang="es-MX" sz="16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1B1B1B"/>
                </a:solidFill>
                <a:effectLst/>
                <a:latin typeface="Open Sans" panose="020B0606030504020204" pitchFamily="34" charset="0"/>
              </a:rPr>
            </a:br>
            <a:endParaRPr lang="es-CO" sz="1600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3568CA6F-850F-3C0E-B0EC-157D930E72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9265" y="4373546"/>
            <a:ext cx="4732805" cy="2253717"/>
          </a:xfrm>
        </p:spPr>
      </p:pic>
    </p:spTree>
    <p:extLst>
      <p:ext uri="{BB962C8B-B14F-4D97-AF65-F5344CB8AC3E}">
        <p14:creationId xmlns:p14="http://schemas.microsoft.com/office/powerpoint/2010/main" val="339968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26020-B029-4507-C581-B552DBFD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8" y="199401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s-MX" dirty="0"/>
              <a:t>PARTES DEL OJO (INTERNA)</a:t>
            </a:r>
            <a:br>
              <a:rPr lang="es-MX" dirty="0"/>
            </a:br>
            <a:br>
              <a:rPr lang="es-MX" dirty="0"/>
            </a:b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-Humor acuoso</a:t>
            </a:r>
            <a:r>
              <a:rPr lang="es-MX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un liquido mayormente de agua que </a:t>
            </a:r>
            <a:r>
              <a:rPr lang="es-MX" sz="1600" b="0" i="0" dirty="0">
                <a:solidFill>
                  <a:srgbClr val="4041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encarga de nutrir los tejidos del ojo  tales como la córnea o el iris.</a:t>
            </a:r>
            <a:br>
              <a:rPr lang="es-MX" sz="1600" b="0" i="0" dirty="0">
                <a:solidFill>
                  <a:srgbClr val="4041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4041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Cuerpo ciliar : </a:t>
            </a:r>
            <a:r>
              <a:rPr lang="es-CO" sz="16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está detrás del iris</a:t>
            </a:r>
            <a:r>
              <a:rPr lang="es-MX" sz="1600" dirty="0">
                <a:solidFill>
                  <a:srgbClr val="1B1B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es el que </a:t>
            </a:r>
            <a:r>
              <a:rPr lang="es-MX" sz="16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produce el líquido transparente que llena el espacio entre la córnea y el iris.</a:t>
            </a:r>
            <a:br>
              <a:rPr lang="es-MX" sz="16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Córnea: </a:t>
            </a:r>
            <a:r>
              <a:rPr lang="es-MX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MX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córnea ayuda al ojo a enfocar la luz para que podamos ver con claridad.</a:t>
            </a:r>
            <a:br>
              <a:rPr lang="es-MX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Humor vitreo: </a:t>
            </a:r>
            <a:r>
              <a:rPr lang="es-MX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un 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 fluido transparente e incoloro que llena el espacio entre el cristalino y la retina del ojo y esta compuesto de agua colágeno, proteínas, sales, azúcares etc.</a:t>
            </a:r>
            <a:b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Cristalino: </a:t>
            </a:r>
            <a:r>
              <a:rPr lang="es-MX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 cristalino tiene la función de acomodación, </a:t>
            </a:r>
            <a: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es la habilidad para ver con nitidez a diferentes distancias y cambiar el punto de enfoque de forma rápida e involuntaria.</a:t>
            </a:r>
            <a:b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Coroides: </a:t>
            </a:r>
            <a:r>
              <a:rPr lang="es-MX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suministra los nutrientes a las partes internas del ojo</a:t>
            </a:r>
            <a:br>
              <a:rPr lang="es-MX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Retina: 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donde se proyectan las imágenes percibidas, se procesan en forma de impulso nervioso que sale por el </a:t>
            </a:r>
            <a: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nervio óptico.</a:t>
            </a:r>
            <a:b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MX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asos sanguíneos:</a:t>
            </a:r>
            <a:r>
              <a:rPr lang="es-MX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suministra sangre a cada ojo</a:t>
            </a:r>
            <a:b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Macula: </a:t>
            </a:r>
            <a:r>
              <a:rPr lang="es-MX" sz="1600" b="0" i="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mácula es la parte de la retina que hace que la visión sea clara en la línea de visión directa.</a:t>
            </a:r>
            <a:br>
              <a:rPr lang="es-MX" sz="1600" b="0" i="0" dirty="0">
                <a:solidFill>
                  <a:srgbClr val="08080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Nervio óptico :</a:t>
            </a:r>
            <a:r>
              <a:rPr lang="es-MX" sz="1600" b="0" i="0" dirty="0">
                <a:solidFill>
                  <a:srgbClr val="3635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función del nervio óptico es transportar las imágenes que recibe por el sistema visual, transformarlas en impulsos nerviosos hasta el cerebro, donde serán procesadas.</a:t>
            </a:r>
            <a:br>
              <a:rPr lang="es-MX" sz="1300" b="0" i="0" dirty="0">
                <a:solidFill>
                  <a:srgbClr val="1B1B1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C7D97B24-F134-6CAA-AAC4-4897F6F04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71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EBDF1-4658-94C0-91F5-80D24144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" y="318431"/>
            <a:ext cx="9051811" cy="928643"/>
          </a:xfrm>
        </p:spPr>
        <p:txBody>
          <a:bodyPr>
            <a:noAutofit/>
          </a:bodyPr>
          <a:lstStyle/>
          <a:p>
            <a:pPr algn="ctr"/>
            <a:r>
              <a:rPr lang="es-MX" sz="3200" dirty="0"/>
              <a:t>Patologías</a:t>
            </a:r>
            <a:br>
              <a:rPr lang="es-MX" sz="3200" dirty="0"/>
            </a:br>
            <a:br>
              <a:rPr lang="es-MX" sz="3200" dirty="0"/>
            </a:br>
            <a:r>
              <a:rPr lang="es-MX" sz="3200" dirty="0">
                <a:solidFill>
                  <a:schemeClr val="accent1">
                    <a:lumMod val="75000"/>
                  </a:schemeClr>
                </a:solidFill>
              </a:rPr>
              <a:t>Estrabismo del adulto</a:t>
            </a:r>
            <a:br>
              <a:rPr lang="es-MX" sz="3200" dirty="0"/>
            </a:b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4D755A-7053-7261-37CC-58A69A04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75" y="1861486"/>
            <a:ext cx="8596668" cy="547080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solidFill>
                  <a:srgbClr val="04192D"/>
                </a:solidFill>
                <a:latin typeface="Matter"/>
              </a:rPr>
              <a:t>E</a:t>
            </a:r>
            <a:r>
              <a:rPr lang="es-MX" b="0" i="0" dirty="0">
                <a:solidFill>
                  <a:srgbClr val="04192D"/>
                </a:solidFill>
                <a:effectLst/>
                <a:latin typeface="Matter"/>
              </a:rPr>
              <a:t>s la desviación de uno o ambos ojos, de modo que cada uno mira en una dirección, ya sea de forma continua o solo en determinadas circunstancias </a:t>
            </a:r>
            <a:r>
              <a:rPr lang="es-MX" dirty="0">
                <a:solidFill>
                  <a:srgbClr val="04192D"/>
                </a:solidFill>
                <a:latin typeface="Matter"/>
              </a:rPr>
              <a:t>y </a:t>
            </a:r>
            <a:r>
              <a:rPr lang="es-MX" b="0" i="0" dirty="0">
                <a:solidFill>
                  <a:srgbClr val="04192D"/>
                </a:solidFill>
                <a:effectLst/>
                <a:latin typeface="Matter"/>
              </a:rPr>
              <a:t>se estima que el 4% de la población adulta sufre estrabismo.</a:t>
            </a:r>
          </a:p>
          <a:p>
            <a:r>
              <a:rPr lang="es-MX" dirty="0">
                <a:solidFill>
                  <a:srgbClr val="04192D"/>
                </a:solidFill>
                <a:latin typeface="Matter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  <a:latin typeface="Matter"/>
              </a:rPr>
              <a:t>Síntomas: </a:t>
            </a:r>
            <a:r>
              <a:rPr lang="es-MX" dirty="0">
                <a:solidFill>
                  <a:srgbClr val="04192D"/>
                </a:solidFill>
                <a:latin typeface="Matter"/>
              </a:rPr>
              <a:t>Visión doble </a:t>
            </a:r>
            <a:endParaRPr lang="es-MX" b="0" i="0" dirty="0">
              <a:solidFill>
                <a:srgbClr val="04192D"/>
              </a:solidFill>
              <a:effectLst/>
              <a:latin typeface="Matter"/>
            </a:endParaRPr>
          </a:p>
          <a:p>
            <a:r>
              <a:rPr lang="es-MX" dirty="0">
                <a:solidFill>
                  <a:schemeClr val="accent1">
                    <a:lumMod val="75000"/>
                  </a:schemeClr>
                </a:solidFill>
                <a:latin typeface="Matter"/>
              </a:rPr>
              <a:t>Causa: 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Matter"/>
              </a:rPr>
              <a:t>puede ser patología infantil que no se </a:t>
            </a:r>
          </a:p>
          <a:p>
            <a:pPr marL="0" indent="0">
              <a:buNone/>
            </a:pPr>
            <a:r>
              <a:rPr lang="es-MX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tter"/>
              </a:rPr>
              <a:t>Trato en el momento adecuado o no se corrigió </a:t>
            </a:r>
          </a:p>
          <a:p>
            <a:pPr marL="0" indent="0">
              <a:buNone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Matter"/>
              </a:rPr>
              <a:t>Completamente, por algún problema ocular,</a:t>
            </a:r>
          </a:p>
          <a:p>
            <a:pPr marL="0" indent="0">
              <a:buNone/>
            </a:pPr>
            <a:r>
              <a:rPr lang="es-MX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tter"/>
              </a:rPr>
              <a:t>Traumatismo o tumores.</a:t>
            </a:r>
          </a:p>
          <a:p>
            <a:r>
              <a:rPr lang="es-MX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tter"/>
              </a:rPr>
              <a:t> </a:t>
            </a:r>
            <a:r>
              <a:rPr lang="es-MX" b="0" i="0" dirty="0">
                <a:solidFill>
                  <a:schemeClr val="accent1">
                    <a:lumMod val="75000"/>
                  </a:schemeClr>
                </a:solidFill>
                <a:effectLst/>
                <a:latin typeface="Matter"/>
              </a:rPr>
              <a:t>Tratamiento: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tter"/>
              </a:rPr>
              <a:t> 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Matter"/>
              </a:rPr>
              <a:t>A</a:t>
            </a:r>
            <a:r>
              <a:rPr lang="es-MX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tter"/>
              </a:rPr>
              <a:t>nteojos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Matter"/>
              </a:rPr>
              <a:t>Cirugía </a:t>
            </a:r>
            <a:endParaRPr lang="es-MX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atter"/>
            </a:endParaRPr>
          </a:p>
          <a:p>
            <a:pPr marL="0" indent="0">
              <a:buNone/>
            </a:pPr>
            <a:endParaRPr lang="es-MX" b="0" i="0" dirty="0">
              <a:solidFill>
                <a:schemeClr val="accent1">
                  <a:lumMod val="75000"/>
                </a:schemeClr>
              </a:solidFill>
              <a:effectLst/>
              <a:latin typeface="Matter"/>
            </a:endParaRPr>
          </a:p>
          <a:p>
            <a:pPr marL="0" indent="0">
              <a:buNone/>
            </a:pP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53FAD1-8B13-6274-7B56-4486107F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34" y="2546944"/>
            <a:ext cx="4537819" cy="32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5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AABC8-7358-464A-63FB-D2CD63CE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86" y="156238"/>
            <a:ext cx="8596668" cy="1320800"/>
          </a:xfrm>
        </p:spPr>
        <p:txBody>
          <a:bodyPr/>
          <a:lstStyle/>
          <a:p>
            <a:pPr algn="ctr"/>
            <a:r>
              <a:rPr lang="es-MX" dirty="0"/>
              <a:t>CATARATAS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2F48E-A0F6-5040-5B09-4A298E032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86" y="1058182"/>
            <a:ext cx="8596668" cy="579981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MX" sz="5600" dirty="0">
                <a:solidFill>
                  <a:srgbClr val="0419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5600" b="0" i="0" dirty="0">
                <a:solidFill>
                  <a:srgbClr val="0419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producen cuando </a:t>
            </a:r>
            <a:r>
              <a:rPr lang="es-MX" sz="5600" i="0" dirty="0">
                <a:solidFill>
                  <a:srgbClr val="0419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pierde la transparencia del cristalino, </a:t>
            </a:r>
            <a:r>
              <a:rPr lang="es-MX" sz="5600" b="0" i="0" dirty="0">
                <a:solidFill>
                  <a:srgbClr val="0419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Cuando esta lente natural del ojo se vuelve opaca, nuestra visión se “nubla”, como si estuviésemos mirando a través de un cristal sucio o empañado, </a:t>
            </a:r>
            <a:r>
              <a:rPr lang="es-MX" sz="5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cataratas pueden afectar uno o los dos ojos pero no se contagia de uno a otro</a:t>
            </a:r>
            <a:endParaRPr lang="es-MX" sz="5600" b="0" i="0" dirty="0">
              <a:solidFill>
                <a:srgbClr val="04192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5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Síntomas :  </a:t>
            </a:r>
            <a:r>
              <a:rPr lang="es-MX" sz="5600" b="0" i="0" dirty="0">
                <a:solidFill>
                  <a:srgbClr val="0419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vista borrosa </a:t>
            </a:r>
          </a:p>
          <a:p>
            <a:pPr marL="0" indent="0">
              <a:buNone/>
            </a:pPr>
            <a:r>
              <a:rPr lang="es-CO" sz="5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Colores que parecen desteñidos</a:t>
            </a:r>
          </a:p>
          <a:p>
            <a:pPr marL="0" indent="0">
              <a:buNone/>
            </a:pPr>
            <a:r>
              <a:rPr lang="es-MX" sz="5600" b="0" i="0" dirty="0">
                <a:solidFill>
                  <a:srgbClr val="04192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s-MX" sz="56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Dificultad para ver bien de noche </a:t>
            </a:r>
          </a:p>
          <a:p>
            <a:r>
              <a:rPr lang="es-MX" sz="56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Causas: </a:t>
            </a:r>
            <a:r>
              <a:rPr lang="es-MX" sz="5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envejecimiento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Tiene ciertos problemas de salud, como diabetes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Fuma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Consume demasiado alcohol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Tiene antecedentes familiares de cataratas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Ha tenido alguna lesión en el ojo, cirugía ocular o tratamiento de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radiación en la parte superior de su cuerpo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Ha pasado mucho tiempo bajo el sol </a:t>
            </a:r>
          </a:p>
          <a:p>
            <a:r>
              <a:rPr lang="es-MX" sz="5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Tratamiento: </a:t>
            </a:r>
            <a:r>
              <a:rPr lang="es-MX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 es en casa</a:t>
            </a:r>
            <a:r>
              <a:rPr lang="es-MX" sz="5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s-MX" sz="5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</a:t>
            </a: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 luces más brillantes en su hogar o en su trabajo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Usar lentes de sol antirreflejos </a:t>
            </a:r>
          </a:p>
          <a:p>
            <a:pPr marL="0" indent="0" algn="l">
              <a:buNone/>
            </a:pPr>
            <a:r>
              <a:rPr lang="es-MX" sz="5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Usar lupas para leer y para hacer otras actividades </a:t>
            </a:r>
          </a:p>
          <a:p>
            <a:pPr marL="0" indent="0">
              <a:buNone/>
            </a:pPr>
            <a:r>
              <a:rPr lang="es-MX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Usar lentes (gafas) o lentes de contacto</a:t>
            </a:r>
          </a:p>
          <a:p>
            <a:pPr marL="0" indent="0">
              <a:buNone/>
            </a:pPr>
            <a:r>
              <a:rPr lang="es-MX" sz="5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Cirugía  </a:t>
            </a:r>
            <a:endParaRPr lang="es-MX" dirty="0">
              <a:solidFill>
                <a:srgbClr val="04192D"/>
              </a:solidFill>
              <a:latin typeface="Matter"/>
            </a:endParaRPr>
          </a:p>
          <a:p>
            <a:pPr marL="0" indent="0">
              <a:buNone/>
            </a:pPr>
            <a:r>
              <a:rPr lang="es-MX" b="0" i="0" dirty="0">
                <a:solidFill>
                  <a:srgbClr val="04192D"/>
                </a:solidFill>
                <a:effectLst/>
                <a:latin typeface="Matter"/>
              </a:rPr>
              <a:t> </a:t>
            </a:r>
            <a:r>
              <a:rPr lang="es-CO" b="0" i="0" dirty="0">
                <a:solidFill>
                  <a:srgbClr val="04192D"/>
                </a:solidFill>
                <a:effectLst/>
                <a:latin typeface="Matter"/>
              </a:rPr>
              <a:t> </a:t>
            </a:r>
          </a:p>
          <a:p>
            <a:endParaRPr lang="es-MX" b="0" i="0" dirty="0">
              <a:solidFill>
                <a:srgbClr val="04192D"/>
              </a:solidFill>
              <a:effectLst/>
              <a:latin typeface="Matter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6A0F3E-27B0-1516-77D8-A7A98412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11" y="1967004"/>
            <a:ext cx="4402537" cy="361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809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</TotalTime>
  <Words>687</Words>
  <Application>Microsoft Office PowerPoint</Application>
  <PresentationFormat>Panorámica</PresentationFormat>
  <Paragraphs>39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Arial</vt:lpstr>
      <vt:lpstr>Google Sans</vt:lpstr>
      <vt:lpstr>Matter</vt:lpstr>
      <vt:lpstr>Open Sans</vt:lpstr>
      <vt:lpstr>Roboto</vt:lpstr>
      <vt:lpstr>Trebuchet MS</vt:lpstr>
      <vt:lpstr>Wingdings 3</vt:lpstr>
      <vt:lpstr>Faceta</vt:lpstr>
      <vt:lpstr>EL OJO </vt:lpstr>
      <vt:lpstr>PARTES DEL OJO (EXTERNA)  -IRIS: ayuda a controlar el tamaño de la pupila para permitir la entrada de más o menos luz en el ojo. - PUPILA:  la pupila cambia de tamaño para regular la cantidad de luz que entra al ojo. Se hace más pequeña ante una luz brillante y tiende a agrandarse a medida que la cantidad de luz disminuye. - Esclera: estructura que protege todos sus elementos internos.  -Lagrimal: humedecen, lubrican y protegen la superficie del ojo  - conjuntiva: proteger de agentes externos al globo ocular  a pupila cambia de tamaño para regular la cantidad de luz que entra al ojo.  </vt:lpstr>
      <vt:lpstr>PARTES DEL OJO (INTERNA)  -Humor acuoso: es un liquido mayormente de agua que se encarga de nutrir los tejidos del ojo  tales como la córnea o el iris.  - Cuerpo ciliar : está detrás del iris y es el que produce el líquido transparente que llena el espacio entre la córnea y el iris.  - Córnea: la córnea ayuda al ojo a enfocar la luz para que podamos ver con claridad.  - Humor vitreo: es un gel fluido transparente e incoloro que llena el espacio entre el cristalino y la retina del ojo y esta compuesto de agua colágeno, proteínas, sales, azúcares etc.  - Cristalino: el cristalino tiene la función de acomodación, que es la habilidad para ver con nitidez a diferentes distancias y cambiar el punto de enfoque de forma rápida e involuntaria.  - Coroides: suministra los nutrientes a las partes internas del ojo  - Retina: donde se proyectan las imágenes percibidas, se procesan en forma de impulso nervioso que sale por el nervio óptico.  - Vasos sanguíneos: suministra sangre a cada ojo  - Macula: La mácula es la parte de la retina que hace que la visión sea clara en la línea de visión directa.  - Nervio óptico :la función del nervio óptico es transportar las imágenes que recibe por el sistema visual, transformarlas en impulsos nerviosos hasta el cerebro, donde serán procesadas. </vt:lpstr>
      <vt:lpstr>Patologías  Estrabismo del adulto </vt:lpstr>
      <vt:lpstr>CATARATAS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yonathan perez ruiz</dc:creator>
  <cp:lastModifiedBy>yonathan perez ruiz</cp:lastModifiedBy>
  <cp:revision>1</cp:revision>
  <dcterms:created xsi:type="dcterms:W3CDTF">2024-08-23T00:25:35Z</dcterms:created>
  <dcterms:modified xsi:type="dcterms:W3CDTF">2024-08-23T03:14:06Z</dcterms:modified>
</cp:coreProperties>
</file>