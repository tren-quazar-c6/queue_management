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2/21/2024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2/21/2024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2/21/2024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2/21/2024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2/21/2024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2/21/2024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BB49BB-3ADF-484D-8B86-073C6B821A6A}"/>
              </a:ext>
            </a:extLst>
          </p:cNvPr>
          <p:cNvSpPr>
            <a:spLocks noGrp="1"/>
          </p:cNvSpPr>
          <p:nvPr>
            <p:ph type="ctrTitle"/>
          </p:nvPr>
        </p:nvSpPr>
        <p:spPr>
          <a:xfrm>
            <a:off x="828223" y="536895"/>
            <a:ext cx="8689976" cy="2509213"/>
          </a:xfrm>
        </p:spPr>
        <p:txBody>
          <a:bodyPr>
            <a:normAutofit/>
          </a:bodyPr>
          <a:lstStyle/>
          <a:p>
            <a:r>
              <a:rPr lang="es-MX" sz="6600" dirty="0"/>
              <a:t>GELATINAS</a:t>
            </a:r>
            <a:endParaRPr lang="es-CO" sz="6600" dirty="0"/>
          </a:p>
        </p:txBody>
      </p:sp>
      <p:sp>
        <p:nvSpPr>
          <p:cNvPr id="3" name="Subtítulo 2">
            <a:extLst>
              <a:ext uri="{FF2B5EF4-FFF2-40B4-BE49-F238E27FC236}">
                <a16:creationId xmlns:a16="http://schemas.microsoft.com/office/drawing/2014/main" id="{A6BE3C70-00AA-453A-A9B9-CA45F30230C1}"/>
              </a:ext>
            </a:extLst>
          </p:cNvPr>
          <p:cNvSpPr>
            <a:spLocks noGrp="1"/>
          </p:cNvSpPr>
          <p:nvPr>
            <p:ph type="subTitle" idx="1"/>
          </p:nvPr>
        </p:nvSpPr>
        <p:spPr>
          <a:xfrm>
            <a:off x="148715" y="3429000"/>
            <a:ext cx="8689976" cy="1371599"/>
          </a:xfrm>
        </p:spPr>
        <p:txBody>
          <a:bodyPr>
            <a:normAutofit fontScale="92500" lnSpcReduction="10000"/>
          </a:bodyPr>
          <a:lstStyle/>
          <a:p>
            <a:r>
              <a:rPr lang="es-MX" dirty="0">
                <a:solidFill>
                  <a:schemeClr val="tx1"/>
                </a:solidFill>
              </a:rPr>
              <a:t>PRESENTADO POR:</a:t>
            </a:r>
          </a:p>
          <a:p>
            <a:r>
              <a:rPr lang="es-MX" dirty="0">
                <a:solidFill>
                  <a:schemeClr val="tx1"/>
                </a:solidFill>
              </a:rPr>
              <a:t>Valentina Henao Castrillón </a:t>
            </a:r>
          </a:p>
          <a:p>
            <a:r>
              <a:rPr lang="es-MX" dirty="0">
                <a:solidFill>
                  <a:schemeClr val="tx1"/>
                </a:solidFill>
              </a:rPr>
              <a:t>Isabel cristina </a:t>
            </a:r>
            <a:r>
              <a:rPr lang="es-MX" dirty="0" err="1">
                <a:solidFill>
                  <a:schemeClr val="tx1"/>
                </a:solidFill>
              </a:rPr>
              <a:t>PErez</a:t>
            </a:r>
            <a:r>
              <a:rPr lang="es-MX" dirty="0">
                <a:solidFill>
                  <a:schemeClr val="tx1"/>
                </a:solidFill>
              </a:rPr>
              <a:t> Ruiz </a:t>
            </a:r>
          </a:p>
        </p:txBody>
      </p:sp>
    </p:spTree>
    <p:extLst>
      <p:ext uri="{BB962C8B-B14F-4D97-AF65-F5344CB8AC3E}">
        <p14:creationId xmlns:p14="http://schemas.microsoft.com/office/powerpoint/2010/main" val="870129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BAF66D-45CC-4A2D-B922-CF0228358714}"/>
              </a:ext>
            </a:extLst>
          </p:cNvPr>
          <p:cNvSpPr>
            <a:spLocks noGrp="1"/>
          </p:cNvSpPr>
          <p:nvPr>
            <p:ph type="title"/>
          </p:nvPr>
        </p:nvSpPr>
        <p:spPr/>
        <p:txBody>
          <a:bodyPr/>
          <a:lstStyle/>
          <a:p>
            <a:r>
              <a:rPr lang="es-MX" dirty="0">
                <a:latin typeface="Arial" panose="020B0604020202020204" pitchFamily="34" charset="0"/>
                <a:cs typeface="Arial" panose="020B0604020202020204" pitchFamily="34" charset="0"/>
              </a:rPr>
              <a:t>¿Qué son las gelatinas ?</a:t>
            </a:r>
            <a:endParaRPr lang="es-CO"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733C766A-32C3-45E4-B1D3-E77025435458}"/>
              </a:ext>
            </a:extLst>
          </p:cNvPr>
          <p:cNvSpPr>
            <a:spLocks noGrp="1"/>
          </p:cNvSpPr>
          <p:nvPr>
            <p:ph sz="quarter" idx="13"/>
          </p:nvPr>
        </p:nvSpPr>
        <p:spPr/>
        <p:txBody>
          <a:bodyPr>
            <a:normAutofit lnSpcReduction="10000"/>
          </a:bodyPr>
          <a:lstStyle/>
          <a:p>
            <a:r>
              <a:rPr lang="es-MX" b="0" i="0" dirty="0">
                <a:solidFill>
                  <a:srgbClr val="333333"/>
                </a:solidFill>
                <a:effectLst/>
                <a:latin typeface="Arial" panose="020B0604020202020204" pitchFamily="34" charset="0"/>
                <a:cs typeface="Arial" panose="020B0604020202020204" pitchFamily="34" charset="0"/>
              </a:rPr>
              <a:t> </a:t>
            </a:r>
            <a:r>
              <a:rPr lang="es-MX" sz="2400" b="0" i="0" cap="none" dirty="0">
                <a:solidFill>
                  <a:srgbClr val="333333"/>
                </a:solidFill>
                <a:effectLst/>
                <a:latin typeface="Arial" panose="020B0604020202020204" pitchFamily="34" charset="0"/>
                <a:cs typeface="Arial" panose="020B0604020202020204" pitchFamily="34" charset="0"/>
              </a:rPr>
              <a:t>L</a:t>
            </a:r>
            <a:r>
              <a:rPr lang="es-MX" sz="2400" cap="none" dirty="0">
                <a:solidFill>
                  <a:srgbClr val="333333"/>
                </a:solidFill>
                <a:latin typeface="Arial" panose="020B0604020202020204" pitchFamily="34" charset="0"/>
                <a:cs typeface="Arial" panose="020B0604020202020204" pitchFamily="34" charset="0"/>
              </a:rPr>
              <a:t>a</a:t>
            </a:r>
            <a:r>
              <a:rPr lang="es-MX" sz="2400" i="0" cap="none" dirty="0">
                <a:solidFill>
                  <a:srgbClr val="333333"/>
                </a:solidFill>
                <a:effectLst/>
                <a:latin typeface="Arial" panose="020B0604020202020204" pitchFamily="34" charset="0"/>
                <a:cs typeface="Arial" panose="020B0604020202020204" pitchFamily="34" charset="0"/>
              </a:rPr>
              <a:t> gelatina es una proteína derivada del colágeno, generalmente obtenida de tejidos animales, como la piel y los huesos. en medicina, se utiliza principalmente como un agente gelificante en productos farmacéuticos, como cápsulas de gelatina para contener medicamentos, o como un medio para cultivar células en el laboratorio. además, en algunos casos, la gelatina se puede usar en la alimentación de pacientes con ciertas condiciones médicas, su presentación puede ser Gelatina fluida modificada y</a:t>
            </a:r>
            <a:r>
              <a:rPr lang="es-CO" sz="2000" b="0" i="0" dirty="0">
                <a:solidFill>
                  <a:srgbClr val="000000"/>
                </a:solidFill>
                <a:effectLst/>
                <a:latin typeface="Tahoma" panose="020B0604030504040204" pitchFamily="34" charset="0"/>
              </a:rPr>
              <a:t> </a:t>
            </a:r>
            <a:r>
              <a:rPr lang="es-CO" sz="2400" cap="none" dirty="0">
                <a:solidFill>
                  <a:srgbClr val="333333"/>
                </a:solidFill>
                <a:latin typeface="Arial" panose="020B0604020202020204" pitchFamily="34" charset="0"/>
                <a:cs typeface="Arial" panose="020B0604020202020204" pitchFamily="34" charset="0"/>
              </a:rPr>
              <a:t>Gelatinas reticuladas con urea.</a:t>
            </a:r>
            <a:endParaRPr lang="es-MX" sz="2400" cap="none" dirty="0">
              <a:solidFill>
                <a:srgbClr val="33333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6316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CBF332-1849-4651-BAA8-FECDEA081556}"/>
              </a:ext>
            </a:extLst>
          </p:cNvPr>
          <p:cNvSpPr>
            <a:spLocks noGrp="1"/>
          </p:cNvSpPr>
          <p:nvPr>
            <p:ph type="title"/>
          </p:nvPr>
        </p:nvSpPr>
        <p:spPr>
          <a:xfrm>
            <a:off x="913775" y="618517"/>
            <a:ext cx="10364451" cy="1025725"/>
          </a:xfrm>
        </p:spPr>
        <p:txBody>
          <a:bodyPr/>
          <a:lstStyle/>
          <a:p>
            <a:r>
              <a:rPr lang="es-MX" dirty="0">
                <a:latin typeface="Arial" panose="020B0604020202020204" pitchFamily="34" charset="0"/>
                <a:cs typeface="Arial" panose="020B0604020202020204" pitchFamily="34" charset="0"/>
              </a:rPr>
              <a:t> presentaciones  </a:t>
            </a:r>
            <a:endParaRPr lang="es-CO"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B84C6B97-CD40-4287-A995-8B88430924DE}"/>
              </a:ext>
            </a:extLst>
          </p:cNvPr>
          <p:cNvSpPr>
            <a:spLocks noGrp="1"/>
          </p:cNvSpPr>
          <p:nvPr>
            <p:ph sz="quarter" idx="13"/>
          </p:nvPr>
        </p:nvSpPr>
        <p:spPr>
          <a:xfrm>
            <a:off x="913774" y="1543574"/>
            <a:ext cx="5106026" cy="4247625"/>
          </a:xfrm>
        </p:spPr>
        <p:txBody>
          <a:bodyPr>
            <a:normAutofit fontScale="92500"/>
          </a:bodyPr>
          <a:lstStyle/>
          <a:p>
            <a:r>
              <a:rPr lang="es-MX" b="1" dirty="0">
                <a:latin typeface="Arial" panose="020B0604020202020204" pitchFamily="34" charset="0"/>
                <a:cs typeface="Arial" panose="020B0604020202020204" pitchFamily="34" charset="0"/>
              </a:rPr>
              <a:t>Gelatina fluida modificada:</a:t>
            </a:r>
            <a:r>
              <a:rPr lang="es-MX" sz="1900" b="1" cap="none" dirty="0">
                <a:latin typeface="Arial" panose="020B0604020202020204" pitchFamily="34" charset="0"/>
                <a:cs typeface="Arial" panose="020B0604020202020204" pitchFamily="34" charset="0"/>
              </a:rPr>
              <a:t> </a:t>
            </a:r>
            <a:r>
              <a:rPr lang="es-MX" sz="1900" cap="none" dirty="0">
                <a:latin typeface="Arial" panose="020B0604020202020204" pitchFamily="34" charset="0"/>
                <a:cs typeface="Arial" panose="020B0604020202020204" pitchFamily="34" charset="0"/>
              </a:rPr>
              <a:t>la</a:t>
            </a:r>
            <a:r>
              <a:rPr lang="es-MX" sz="1900" b="0" i="0" cap="none" dirty="0">
                <a:solidFill>
                  <a:srgbClr val="ECECEC"/>
                </a:solidFill>
                <a:effectLst/>
                <a:latin typeface="Arial" panose="020B0604020202020204" pitchFamily="34" charset="0"/>
                <a:cs typeface="Arial" panose="020B0604020202020204" pitchFamily="34" charset="0"/>
              </a:rPr>
              <a:t> </a:t>
            </a:r>
            <a:r>
              <a:rPr lang="es-MX" sz="1900" b="0" i="0" cap="none" dirty="0">
                <a:effectLst/>
                <a:latin typeface="Arial" panose="020B0604020202020204" pitchFamily="34" charset="0"/>
                <a:cs typeface="Arial" panose="020B0604020202020204" pitchFamily="34" charset="0"/>
              </a:rPr>
              <a:t>gelatina fluida modificada se refiere a una gelatina que ha sido procesada para cambiar sus propiedades físicas y permitir que permanezca en estado líquido a temperaturas más altas.</a:t>
            </a:r>
          </a:p>
          <a:p>
            <a:r>
              <a:rPr lang="es-MX" sz="1900" cap="none" dirty="0">
                <a:latin typeface="Arial" panose="020B0604020202020204" pitchFamily="34" charset="0"/>
                <a:cs typeface="Arial" panose="020B0604020202020204" pitchFamily="34" charset="0"/>
              </a:rPr>
              <a:t>una de las soluciones es </a:t>
            </a:r>
            <a:r>
              <a:rPr lang="es-MX" sz="1900" cap="none" dirty="0" err="1">
                <a:latin typeface="Arial" panose="020B0604020202020204" pitchFamily="34" charset="0"/>
                <a:cs typeface="Arial" panose="020B0604020202020204" pitchFamily="34" charset="0"/>
              </a:rPr>
              <a:t>geloplasma</a:t>
            </a:r>
            <a:r>
              <a:rPr lang="es-MX" sz="1900" cap="none" dirty="0">
                <a:latin typeface="Arial" panose="020B0604020202020204" pitchFamily="34" charset="0"/>
                <a:cs typeface="Arial" panose="020B0604020202020204" pitchFamily="34" charset="0"/>
              </a:rPr>
              <a:t>,</a:t>
            </a:r>
            <a:r>
              <a:rPr lang="es-MX" sz="1900" b="0" i="0" cap="none" dirty="0">
                <a:effectLst/>
                <a:latin typeface="Arial" panose="020B0604020202020204" pitchFamily="34" charset="0"/>
                <a:cs typeface="Arial" panose="020B0604020202020204" pitchFamily="34" charset="0"/>
              </a:rPr>
              <a:t> </a:t>
            </a:r>
            <a:r>
              <a:rPr lang="es-MX" sz="1900" cap="none" dirty="0">
                <a:latin typeface="Arial" panose="020B0604020202020204" pitchFamily="34" charset="0"/>
                <a:cs typeface="Arial" panose="020B0604020202020204" pitchFamily="34" charset="0"/>
              </a:rPr>
              <a:t>la cual es </a:t>
            </a:r>
            <a:r>
              <a:rPr lang="es-MX" sz="1900" b="0" i="0" cap="none" dirty="0">
                <a:effectLst/>
                <a:latin typeface="Arial" panose="020B0604020202020204" pitchFamily="34" charset="0"/>
                <a:cs typeface="Arial" panose="020B0604020202020204" pitchFamily="34" charset="0"/>
              </a:rPr>
              <a:t>una solución para perfusión intravenosa. esta contiene gelatina, que pertenece al grupo de medicamentos conocidos como expansores del volumen plasmático y por el </a:t>
            </a:r>
            <a:r>
              <a:rPr lang="es-MX" sz="1900" cap="none" dirty="0">
                <a:latin typeface="Arial" panose="020B0604020202020204" pitchFamily="34" charset="0"/>
                <a:cs typeface="Arial" panose="020B0604020202020204" pitchFamily="34" charset="0"/>
              </a:rPr>
              <a:t>cual se administra por vía intravenosa</a:t>
            </a:r>
            <a:endParaRPr lang="es-MX" sz="1900" b="0" i="0" cap="none" dirty="0">
              <a:effectLst/>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156B70DB-C9D0-4584-A3D1-126710C3426C}"/>
              </a:ext>
            </a:extLst>
          </p:cNvPr>
          <p:cNvSpPr>
            <a:spLocks noGrp="1"/>
          </p:cNvSpPr>
          <p:nvPr>
            <p:ph sz="quarter" idx="14"/>
          </p:nvPr>
        </p:nvSpPr>
        <p:spPr>
          <a:xfrm>
            <a:off x="6172200" y="1593908"/>
            <a:ext cx="5105400" cy="4197291"/>
          </a:xfrm>
        </p:spPr>
        <p:txBody>
          <a:bodyPr>
            <a:normAutofit/>
          </a:bodyPr>
          <a:lstStyle/>
          <a:p>
            <a:pPr marL="0" indent="0">
              <a:buNone/>
            </a:pPr>
            <a:r>
              <a:rPr lang="es-MX" cap="none" dirty="0"/>
              <a:t>este medicamente se usa en emergencias en donde hay disminución del volumen sanguíneo, como:</a:t>
            </a:r>
          </a:p>
          <a:p>
            <a:r>
              <a:rPr lang="es-MX" cap="none" dirty="0"/>
              <a:t>Hemorragias </a:t>
            </a:r>
          </a:p>
          <a:p>
            <a:r>
              <a:rPr lang="es-MX" cap="none" dirty="0"/>
              <a:t>Deshidratación </a:t>
            </a:r>
          </a:p>
          <a:p>
            <a:r>
              <a:rPr lang="es-MX" cap="none" dirty="0"/>
              <a:t>Quemaduras </a:t>
            </a:r>
          </a:p>
          <a:p>
            <a:r>
              <a:rPr lang="es-MX" cap="none" dirty="0"/>
              <a:t>Vaso dilatación grave ya sea de </a:t>
            </a:r>
            <a:r>
              <a:rPr lang="pt-BR" b="0" i="0" cap="none" dirty="0" err="1">
                <a:effectLst/>
                <a:latin typeface="Times New Roman" panose="02020603050405020304" pitchFamily="18" charset="0"/>
              </a:rPr>
              <a:t>origen</a:t>
            </a:r>
            <a:r>
              <a:rPr lang="pt-BR" b="0" i="0" cap="none" dirty="0">
                <a:effectLst/>
                <a:latin typeface="Times New Roman" panose="02020603050405020304" pitchFamily="18" charset="0"/>
              </a:rPr>
              <a:t>  traumático, </a:t>
            </a:r>
            <a:r>
              <a:rPr lang="pt-BR" b="0" i="0" cap="none" dirty="0" err="1">
                <a:effectLst/>
                <a:latin typeface="Times New Roman" panose="02020603050405020304" pitchFamily="18" charset="0"/>
              </a:rPr>
              <a:t>quirúrgico</a:t>
            </a:r>
            <a:r>
              <a:rPr lang="pt-BR" b="0" i="0" cap="none" dirty="0">
                <a:effectLst/>
                <a:latin typeface="Times New Roman" panose="02020603050405020304" pitchFamily="18" charset="0"/>
              </a:rPr>
              <a:t>, séptico o tóxico.</a:t>
            </a:r>
            <a:endParaRPr lang="es-MX" cap="none" dirty="0"/>
          </a:p>
          <a:p>
            <a:endParaRPr lang="es-MX" dirty="0"/>
          </a:p>
          <a:p>
            <a:pPr marL="0" indent="0">
              <a:buNone/>
            </a:pPr>
            <a:endParaRPr lang="es-CO" dirty="0"/>
          </a:p>
        </p:txBody>
      </p:sp>
    </p:spTree>
    <p:extLst>
      <p:ext uri="{BB962C8B-B14F-4D97-AF65-F5344CB8AC3E}">
        <p14:creationId xmlns:p14="http://schemas.microsoft.com/office/powerpoint/2010/main" val="170594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27E481-08F0-4804-95F5-2F48ABF84B58}"/>
              </a:ext>
            </a:extLst>
          </p:cNvPr>
          <p:cNvSpPr>
            <a:spLocks noGrp="1"/>
          </p:cNvSpPr>
          <p:nvPr>
            <p:ph type="title"/>
          </p:nvPr>
        </p:nvSpPr>
        <p:spPr>
          <a:xfrm>
            <a:off x="913775" y="75502"/>
            <a:ext cx="10364451" cy="1233182"/>
          </a:xfrm>
        </p:spPr>
        <p:txBody>
          <a:bodyPr/>
          <a:lstStyle/>
          <a:p>
            <a:r>
              <a:rPr lang="es-MX" dirty="0"/>
              <a:t>Advertencias </a:t>
            </a:r>
            <a:endParaRPr lang="es-CO" dirty="0"/>
          </a:p>
        </p:txBody>
      </p:sp>
      <p:sp>
        <p:nvSpPr>
          <p:cNvPr id="3" name="Marcador de contenido 2">
            <a:extLst>
              <a:ext uri="{FF2B5EF4-FFF2-40B4-BE49-F238E27FC236}">
                <a16:creationId xmlns:a16="http://schemas.microsoft.com/office/drawing/2014/main" id="{3FC2FB3A-03E9-4BFF-A30A-FC58FF31AF61}"/>
              </a:ext>
            </a:extLst>
          </p:cNvPr>
          <p:cNvSpPr>
            <a:spLocks noGrp="1"/>
          </p:cNvSpPr>
          <p:nvPr>
            <p:ph sz="quarter" idx="13"/>
          </p:nvPr>
        </p:nvSpPr>
        <p:spPr>
          <a:xfrm>
            <a:off x="913774" y="1098958"/>
            <a:ext cx="8028890" cy="5100506"/>
          </a:xfrm>
        </p:spPr>
        <p:txBody>
          <a:bodyPr>
            <a:noAutofit/>
          </a:bodyPr>
          <a:lstStyle/>
          <a:p>
            <a:r>
              <a:rPr lang="es-MX" sz="1800" cap="none" dirty="0">
                <a:latin typeface="Arial" panose="020B0604020202020204" pitchFamily="34" charset="0"/>
                <a:cs typeface="Arial" panose="020B0604020202020204" pitchFamily="34" charset="0"/>
              </a:rPr>
              <a:t>E</a:t>
            </a:r>
            <a:r>
              <a:rPr lang="es-MX" sz="1800" b="0" i="0" cap="none" dirty="0">
                <a:effectLst/>
                <a:latin typeface="Arial" panose="020B0604020202020204" pitchFamily="34" charset="0"/>
                <a:cs typeface="Arial" panose="020B0604020202020204" pitchFamily="34" charset="0"/>
              </a:rPr>
              <a:t>sta solución no debe administrarse por vía intramuscular.</a:t>
            </a:r>
          </a:p>
          <a:p>
            <a:r>
              <a:rPr lang="es-MX" sz="1800" cap="none" dirty="0">
                <a:latin typeface="Arial" panose="020B0604020202020204" pitchFamily="34" charset="0"/>
                <a:cs typeface="Arial" panose="020B0604020202020204" pitchFamily="34" charset="0"/>
              </a:rPr>
              <a:t>no se debe administrar a mujeres en embarazo ni que tengas sospecha de estarlo, ni lactando.</a:t>
            </a:r>
          </a:p>
          <a:p>
            <a:r>
              <a:rPr lang="es-MX" sz="1800" b="0" i="0" cap="none" dirty="0">
                <a:effectLst/>
                <a:latin typeface="Arial" panose="020B0604020202020204" pitchFamily="34" charset="0"/>
                <a:cs typeface="Arial" panose="020B0604020202020204" pitchFamily="34" charset="0"/>
              </a:rPr>
              <a:t>en caso de </a:t>
            </a:r>
            <a:r>
              <a:rPr lang="es-MX" sz="1800" b="0" i="0" cap="none" dirty="0" err="1">
                <a:effectLst/>
                <a:latin typeface="Arial" panose="020B0604020202020204" pitchFamily="34" charset="0"/>
                <a:cs typeface="Arial" panose="020B0604020202020204" pitchFamily="34" charset="0"/>
              </a:rPr>
              <a:t>hiperkalemia</a:t>
            </a:r>
            <a:r>
              <a:rPr lang="es-MX" sz="1800" b="0" i="0" cap="none" dirty="0">
                <a:effectLst/>
                <a:latin typeface="Arial" panose="020B0604020202020204" pitchFamily="34" charset="0"/>
                <a:cs typeface="Arial" panose="020B0604020202020204" pitchFamily="34" charset="0"/>
              </a:rPr>
              <a:t> </a:t>
            </a:r>
            <a:r>
              <a:rPr lang="es-MX" sz="1800" b="0" i="1" cap="none" dirty="0">
                <a:effectLst/>
                <a:latin typeface="Arial" panose="020B0604020202020204" pitchFamily="34" charset="0"/>
                <a:cs typeface="Arial" panose="020B0604020202020204" pitchFamily="34" charset="0"/>
              </a:rPr>
              <a:t>(exceso de potasio en sangre).</a:t>
            </a:r>
          </a:p>
          <a:p>
            <a:r>
              <a:rPr lang="es-MX" sz="1800" b="0" i="0" cap="none" dirty="0" err="1">
                <a:effectLst/>
                <a:latin typeface="Arial" panose="020B0604020202020204" pitchFamily="34" charset="0"/>
                <a:cs typeface="Arial" panose="020B0604020202020204" pitchFamily="34" charset="0"/>
              </a:rPr>
              <a:t>geloplasma</a:t>
            </a:r>
            <a:r>
              <a:rPr lang="es-MX" sz="1800" b="0" i="0" cap="none" dirty="0">
                <a:effectLst/>
                <a:latin typeface="Arial" panose="020B0604020202020204" pitchFamily="34" charset="0"/>
                <a:cs typeface="Arial" panose="020B0604020202020204" pitchFamily="34" charset="0"/>
              </a:rPr>
              <a:t> no debe ser administrado al mismo tiempo que la sangre a no ser que se tenga dos vías de administración por separado </a:t>
            </a:r>
          </a:p>
          <a:p>
            <a:r>
              <a:rPr lang="es-MX" sz="1800" cap="none" dirty="0">
                <a:latin typeface="Arial" panose="020B0604020202020204" pitchFamily="34" charset="0"/>
                <a:cs typeface="Arial" panose="020B0604020202020204" pitchFamily="34" charset="0"/>
              </a:rPr>
              <a:t>el uso de esta solución requiere monitoreo medico y la realización de pruebas de laboratorio de presión sanguínea, eliminación de orina, el hematocrito (volumen sanguíneo.</a:t>
            </a:r>
          </a:p>
          <a:p>
            <a:r>
              <a:rPr lang="es-MX" sz="1800" cap="none" dirty="0">
                <a:latin typeface="Arial" panose="020B0604020202020204" pitchFamily="34" charset="0"/>
                <a:cs typeface="Arial" panose="020B0604020202020204" pitchFamily="34" charset="0"/>
              </a:rPr>
              <a:t>no hacer uso de la solución en caso de que </a:t>
            </a:r>
            <a:r>
              <a:rPr lang="es-MX" sz="1800" b="0" i="0" cap="none" dirty="0">
                <a:effectLst/>
                <a:latin typeface="Arial" panose="020B0604020202020204" pitchFamily="34" charset="0"/>
                <a:cs typeface="Arial" panose="020B0604020202020204" pitchFamily="34" charset="0"/>
              </a:rPr>
              <a:t>el envase está dañado,</a:t>
            </a:r>
          </a:p>
          <a:p>
            <a:r>
              <a:rPr lang="es-MX" sz="1800" b="0" i="0" cap="none" dirty="0">
                <a:effectLst/>
                <a:latin typeface="Arial" panose="020B0604020202020204" pitchFamily="34" charset="0"/>
                <a:cs typeface="Arial" panose="020B0604020202020204" pitchFamily="34" charset="0"/>
              </a:rPr>
              <a:t>la solución no es transparente o el líquido ha salido de la bolsa.</a:t>
            </a:r>
          </a:p>
          <a:p>
            <a:r>
              <a:rPr lang="es-MX" sz="1800" cap="none" dirty="0">
                <a:latin typeface="Arial" panose="020B0604020202020204" pitchFamily="34" charset="0"/>
                <a:cs typeface="Arial" panose="020B0604020202020204" pitchFamily="34" charset="0"/>
              </a:rPr>
              <a:t>este puede causar </a:t>
            </a:r>
            <a:r>
              <a:rPr lang="es-MX" sz="1800" b="0" i="0" cap="none" dirty="0">
                <a:effectLst/>
                <a:latin typeface="Arial" panose="020B0604020202020204" pitchFamily="34" charset="0"/>
                <a:cs typeface="Arial" panose="020B0604020202020204" pitchFamily="34" charset="0"/>
              </a:rPr>
              <a:t>shock anafiláctico (</a:t>
            </a:r>
            <a:r>
              <a:rPr lang="es-MX" sz="1800" b="0" i="1" cap="none" dirty="0">
                <a:effectLst/>
                <a:latin typeface="Arial" panose="020B0604020202020204" pitchFamily="34" charset="0"/>
                <a:cs typeface="Arial" panose="020B0604020202020204" pitchFamily="34" charset="0"/>
              </a:rPr>
              <a:t>reacción alérgica grave</a:t>
            </a:r>
            <a:r>
              <a:rPr lang="es-MX" sz="1800" b="0" i="0" cap="none" dirty="0">
                <a:effectLst/>
                <a:latin typeface="Arial" panose="020B0604020202020204" pitchFamily="34" charset="0"/>
                <a:cs typeface="Arial" panose="020B0604020202020204" pitchFamily="34" charset="0"/>
              </a:rPr>
              <a:t>).</a:t>
            </a:r>
          </a:p>
        </p:txBody>
      </p:sp>
      <p:pic>
        <p:nvPicPr>
          <p:cNvPr id="7" name="Imagen 6">
            <a:extLst>
              <a:ext uri="{FF2B5EF4-FFF2-40B4-BE49-F238E27FC236}">
                <a16:creationId xmlns:a16="http://schemas.microsoft.com/office/drawing/2014/main" id="{29243E1D-6211-47DF-8A8E-6B8044664549}"/>
              </a:ext>
            </a:extLst>
          </p:cNvPr>
          <p:cNvPicPr>
            <a:picLocks noChangeAspect="1"/>
          </p:cNvPicPr>
          <p:nvPr/>
        </p:nvPicPr>
        <p:blipFill>
          <a:blip r:embed="rId2"/>
          <a:stretch>
            <a:fillRect/>
          </a:stretch>
        </p:blipFill>
        <p:spPr>
          <a:xfrm>
            <a:off x="8870363" y="1310780"/>
            <a:ext cx="3226561" cy="4236440"/>
          </a:xfrm>
          <a:prstGeom prst="rect">
            <a:avLst/>
          </a:prstGeom>
        </p:spPr>
      </p:pic>
    </p:spTree>
    <p:extLst>
      <p:ext uri="{BB962C8B-B14F-4D97-AF65-F5344CB8AC3E}">
        <p14:creationId xmlns:p14="http://schemas.microsoft.com/office/powerpoint/2010/main" val="2331055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AC7EE5-2219-426D-A8EE-324F0B27CCC7}"/>
              </a:ext>
            </a:extLst>
          </p:cNvPr>
          <p:cNvSpPr>
            <a:spLocks noGrp="1"/>
          </p:cNvSpPr>
          <p:nvPr>
            <p:ph type="title"/>
          </p:nvPr>
        </p:nvSpPr>
        <p:spPr>
          <a:xfrm>
            <a:off x="653366" y="316514"/>
            <a:ext cx="10364451" cy="1126393"/>
          </a:xfrm>
        </p:spPr>
        <p:txBody>
          <a:bodyPr>
            <a:normAutofit/>
          </a:bodyPr>
          <a:lstStyle/>
          <a:p>
            <a:r>
              <a:rPr lang="es-CO" cap="none" dirty="0">
                <a:latin typeface="Arial" panose="020B0604020202020204" pitchFamily="34" charset="0"/>
                <a:cs typeface="Arial" panose="020B0604020202020204" pitchFamily="34" charset="0"/>
              </a:rPr>
              <a:t>GELATINA RETICULADA CON UREA</a:t>
            </a:r>
          </a:p>
        </p:txBody>
      </p:sp>
      <p:sp>
        <p:nvSpPr>
          <p:cNvPr id="4" name="Marcador de contenido 3">
            <a:extLst>
              <a:ext uri="{FF2B5EF4-FFF2-40B4-BE49-F238E27FC236}">
                <a16:creationId xmlns:a16="http://schemas.microsoft.com/office/drawing/2014/main" id="{1B3945ED-3EB6-4F21-A1DB-89405CB54D9D}"/>
              </a:ext>
            </a:extLst>
          </p:cNvPr>
          <p:cNvSpPr>
            <a:spLocks noGrp="1"/>
          </p:cNvSpPr>
          <p:nvPr>
            <p:ph sz="quarter" idx="13"/>
          </p:nvPr>
        </p:nvSpPr>
        <p:spPr>
          <a:xfrm>
            <a:off x="469157" y="1442907"/>
            <a:ext cx="5106027" cy="4865614"/>
          </a:xfrm>
        </p:spPr>
        <p:txBody>
          <a:bodyPr>
            <a:normAutofit/>
          </a:bodyPr>
          <a:lstStyle/>
          <a:p>
            <a:r>
              <a:rPr lang="es-MX" sz="1800" cap="none" dirty="0">
                <a:latin typeface="Arial" panose="020B0604020202020204" pitchFamily="34" charset="0"/>
                <a:cs typeface="Arial" panose="020B0604020202020204" pitchFamily="34" charset="0"/>
              </a:rPr>
              <a:t>L</a:t>
            </a:r>
            <a:r>
              <a:rPr lang="es-MX" sz="1800" b="0" i="0" cap="none" dirty="0">
                <a:effectLst/>
                <a:latin typeface="Arial" panose="020B0604020202020204" pitchFamily="34" charset="0"/>
                <a:cs typeface="Arial" panose="020B0604020202020204" pitchFamily="34" charset="0"/>
              </a:rPr>
              <a:t>as gelatinas reticuladas con urea son gelatinas que han sido modificadas químicamente para formar una red tridimensional utilizando urea como agente de reticulación. este proceso implica la creación de enlaces cruzados entre las cadenas de gelatina utilizando urea, que es capaz de formar enlaces químicos, conocidos como puentes de urea.</a:t>
            </a:r>
          </a:p>
          <a:p>
            <a:r>
              <a:rPr lang="es-MX" sz="1800" b="0" i="0" cap="none" dirty="0">
                <a:effectLst/>
                <a:latin typeface="Arial" panose="020B0604020202020204" pitchFamily="34" charset="0"/>
                <a:cs typeface="Arial" panose="020B0604020202020204" pitchFamily="34" charset="0"/>
              </a:rPr>
              <a:t>una de sus soluciones es </a:t>
            </a:r>
            <a:r>
              <a:rPr lang="es-MX" sz="1800" b="0" i="0" cap="none" dirty="0" err="1">
                <a:effectLst/>
                <a:latin typeface="Arial" panose="020B0604020202020204" pitchFamily="34" charset="0"/>
                <a:cs typeface="Arial" panose="020B0604020202020204" pitchFamily="34" charset="0"/>
              </a:rPr>
              <a:t>poligelina</a:t>
            </a:r>
            <a:r>
              <a:rPr lang="es-MX" sz="1800" b="0" i="0" cap="none" dirty="0">
                <a:effectLst/>
                <a:latin typeface="Arial" panose="020B0604020202020204" pitchFamily="34" charset="0"/>
                <a:cs typeface="Arial" panose="020B0604020202020204" pitchFamily="34" charset="0"/>
              </a:rPr>
              <a:t> (</a:t>
            </a:r>
            <a:r>
              <a:rPr lang="es-MX" sz="1800" b="0" i="0" cap="none" dirty="0" err="1">
                <a:effectLst/>
                <a:latin typeface="Arial" panose="020B0604020202020204" pitchFamily="34" charset="0"/>
                <a:cs typeface="Arial" panose="020B0604020202020204" pitchFamily="34" charset="0"/>
              </a:rPr>
              <a:t>haemaccel</a:t>
            </a:r>
            <a:r>
              <a:rPr lang="es-MX" sz="1800" cap="none" dirty="0">
                <a:latin typeface="Arial" panose="020B0604020202020204" pitchFamily="34" charset="0"/>
                <a:cs typeface="Arial" panose="020B0604020202020204" pitchFamily="34" charset="0"/>
              </a:rPr>
              <a:t>) la cual es un medio de sustitución del plasma usado en la reposición</a:t>
            </a:r>
            <a:endParaRPr lang="es-MX" sz="1800" b="0" i="0" cap="none" dirty="0">
              <a:effectLst/>
              <a:latin typeface="Arial" panose="020B0604020202020204" pitchFamily="34" charset="0"/>
              <a:cs typeface="Arial" panose="020B0604020202020204" pitchFamily="34" charset="0"/>
            </a:endParaRPr>
          </a:p>
        </p:txBody>
      </p:sp>
      <p:sp>
        <p:nvSpPr>
          <p:cNvPr id="6" name="Marcador de contenido 5">
            <a:extLst>
              <a:ext uri="{FF2B5EF4-FFF2-40B4-BE49-F238E27FC236}">
                <a16:creationId xmlns:a16="http://schemas.microsoft.com/office/drawing/2014/main" id="{DFBDA245-0FC0-46A4-A97B-CB8160AF83CC}"/>
              </a:ext>
            </a:extLst>
          </p:cNvPr>
          <p:cNvSpPr>
            <a:spLocks noGrp="1"/>
          </p:cNvSpPr>
          <p:nvPr>
            <p:ph sz="quarter" idx="14"/>
          </p:nvPr>
        </p:nvSpPr>
        <p:spPr>
          <a:xfrm>
            <a:off x="6095999" y="1442907"/>
            <a:ext cx="5105401" cy="4865614"/>
          </a:xfrm>
        </p:spPr>
        <p:txBody>
          <a:bodyPr/>
          <a:lstStyle/>
          <a:p>
            <a:pPr marL="0" indent="0">
              <a:buNone/>
            </a:pPr>
            <a:r>
              <a:rPr lang="es-MX" sz="2000" cap="none" dirty="0">
                <a:latin typeface="Arial" panose="020B0604020202020204" pitchFamily="34" charset="0"/>
                <a:cs typeface="Arial" panose="020B0604020202020204" pitchFamily="34" charset="0"/>
              </a:rPr>
              <a:t>de volumen para compensar o evitar una insuficiencia circulatoria producida por déficit del volumen plasmático o sanguíneo como las hemorragias, shock hipovolémico, perdida de sangre, este se aplica de forma intravenosa.</a:t>
            </a:r>
          </a:p>
          <a:p>
            <a:r>
              <a:rPr lang="es-MX" sz="2000" cap="none" dirty="0">
                <a:latin typeface="Arial" panose="020B0604020202020204" pitchFamily="34" charset="0"/>
                <a:cs typeface="Arial" panose="020B0604020202020204" pitchFamily="34" charset="0"/>
              </a:rPr>
              <a:t>Esta contiene perfusión </a:t>
            </a:r>
            <a:r>
              <a:rPr lang="es-MX" sz="2000" cap="none" dirty="0" err="1">
                <a:latin typeface="Arial" panose="020B0604020202020204" pitchFamily="34" charset="0"/>
                <a:cs typeface="Arial" panose="020B0604020202020204" pitchFamily="34" charset="0"/>
              </a:rPr>
              <a:t>poligelina</a:t>
            </a:r>
            <a:r>
              <a:rPr lang="es-MX" cap="none" dirty="0">
                <a:latin typeface="Arial" panose="020B0604020202020204" pitchFamily="34" charset="0"/>
                <a:cs typeface="Arial" panose="020B0604020202020204" pitchFamily="34" charset="0"/>
              </a:rPr>
              <a:t> cloruro de sodio, cloruro de potasio, cloruro de calcio </a:t>
            </a:r>
            <a:r>
              <a:rPr lang="es-MX" cap="none" dirty="0" err="1">
                <a:latin typeface="Arial" panose="020B0604020202020204" pitchFamily="34" charset="0"/>
                <a:cs typeface="Arial" panose="020B0604020202020204" pitchFamily="34" charset="0"/>
              </a:rPr>
              <a:t>dihidrato</a:t>
            </a:r>
            <a:r>
              <a:rPr lang="es-MX" cap="none" dirty="0">
                <a:latin typeface="Arial" panose="020B0604020202020204" pitchFamily="34" charset="0"/>
                <a:cs typeface="Arial" panose="020B0604020202020204" pitchFamily="34" charset="0"/>
              </a:rPr>
              <a:t>.</a:t>
            </a:r>
          </a:p>
          <a:p>
            <a:pPr marL="0" indent="0">
              <a:buNone/>
            </a:pPr>
            <a:endParaRPr lang="es-CO" dirty="0"/>
          </a:p>
        </p:txBody>
      </p:sp>
    </p:spTree>
    <p:extLst>
      <p:ext uri="{BB962C8B-B14F-4D97-AF65-F5344CB8AC3E}">
        <p14:creationId xmlns:p14="http://schemas.microsoft.com/office/powerpoint/2010/main" val="3722830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A813DF-A7F5-46BC-A7CB-B3D4F78A3C14}"/>
              </a:ext>
            </a:extLst>
          </p:cNvPr>
          <p:cNvSpPr>
            <a:spLocks noGrp="1"/>
          </p:cNvSpPr>
          <p:nvPr>
            <p:ph type="title"/>
          </p:nvPr>
        </p:nvSpPr>
        <p:spPr>
          <a:xfrm>
            <a:off x="536270" y="0"/>
            <a:ext cx="10364451" cy="1596177"/>
          </a:xfrm>
        </p:spPr>
        <p:txBody>
          <a:bodyPr/>
          <a:lstStyle/>
          <a:p>
            <a:r>
              <a:rPr lang="es-MX" dirty="0"/>
              <a:t>Advertencias</a:t>
            </a:r>
            <a:endParaRPr lang="es-CO" dirty="0"/>
          </a:p>
        </p:txBody>
      </p:sp>
      <p:sp>
        <p:nvSpPr>
          <p:cNvPr id="3" name="Marcador de contenido 2">
            <a:extLst>
              <a:ext uri="{FF2B5EF4-FFF2-40B4-BE49-F238E27FC236}">
                <a16:creationId xmlns:a16="http://schemas.microsoft.com/office/drawing/2014/main" id="{ED7F89B9-E81A-4553-9C4E-089DF24D7D9E}"/>
              </a:ext>
            </a:extLst>
          </p:cNvPr>
          <p:cNvSpPr>
            <a:spLocks noGrp="1"/>
          </p:cNvSpPr>
          <p:nvPr>
            <p:ph sz="quarter" idx="13"/>
          </p:nvPr>
        </p:nvSpPr>
        <p:spPr>
          <a:xfrm>
            <a:off x="536270" y="1444303"/>
            <a:ext cx="7542328" cy="4948108"/>
          </a:xfrm>
        </p:spPr>
        <p:txBody>
          <a:bodyPr>
            <a:normAutofit/>
          </a:bodyPr>
          <a:lstStyle/>
          <a:p>
            <a:r>
              <a:rPr lang="es-MX" sz="1800" cap="none" dirty="0">
                <a:latin typeface="Arial" panose="020B0604020202020204" pitchFamily="34" charset="0"/>
                <a:cs typeface="Arial" panose="020B0604020202020204" pitchFamily="34" charset="0"/>
              </a:rPr>
              <a:t>E</a:t>
            </a:r>
            <a:r>
              <a:rPr lang="es-MX" sz="1800" b="0" i="0" cap="none" dirty="0">
                <a:effectLst/>
                <a:latin typeface="Arial" panose="020B0604020202020204" pitchFamily="34" charset="0"/>
                <a:cs typeface="Arial" panose="020B0604020202020204" pitchFamily="34" charset="0"/>
              </a:rPr>
              <a:t>n forma ocasional durante o después de la administración, pueden aparecer reacciones cutáneas transitorias (urticaria, ronchas)</a:t>
            </a:r>
          </a:p>
          <a:p>
            <a:r>
              <a:rPr lang="es-MX" sz="1800" b="0" i="0" cap="none" dirty="0">
                <a:effectLst/>
                <a:latin typeface="Arial" panose="020B0604020202020204" pitchFamily="34" charset="0"/>
                <a:cs typeface="Arial" panose="020B0604020202020204" pitchFamily="34" charset="0"/>
              </a:rPr>
              <a:t>hipotensión, taquicardia</a:t>
            </a:r>
            <a:r>
              <a:rPr lang="es-MX" sz="1800" cap="none" dirty="0">
                <a:latin typeface="Arial" panose="020B0604020202020204" pitchFamily="34" charset="0"/>
                <a:cs typeface="Arial" panose="020B0604020202020204" pitchFamily="34" charset="0"/>
              </a:rPr>
              <a:t>, </a:t>
            </a:r>
            <a:r>
              <a:rPr lang="es-MX" sz="1800" b="0" i="0" cap="none" dirty="0">
                <a:effectLst/>
                <a:latin typeface="Arial" panose="020B0604020202020204" pitchFamily="34" charset="0"/>
                <a:cs typeface="Arial" panose="020B0604020202020204" pitchFamily="34" charset="0"/>
              </a:rPr>
              <a:t>bradicardia</a:t>
            </a:r>
            <a:endParaRPr lang="es-MX" sz="1800" cap="none" dirty="0">
              <a:latin typeface="Arial" panose="020B0604020202020204" pitchFamily="34" charset="0"/>
              <a:cs typeface="Arial" panose="020B0604020202020204" pitchFamily="34" charset="0"/>
            </a:endParaRPr>
          </a:p>
          <a:p>
            <a:r>
              <a:rPr lang="es-MX" sz="1800" b="0" i="0" cap="none" dirty="0">
                <a:effectLst/>
                <a:latin typeface="Arial" panose="020B0604020202020204" pitchFamily="34" charset="0"/>
                <a:cs typeface="Arial" panose="020B0604020202020204" pitchFamily="34" charset="0"/>
              </a:rPr>
              <a:t> náuseas/vómitos</a:t>
            </a:r>
          </a:p>
          <a:p>
            <a:r>
              <a:rPr lang="es-MX" sz="1800" b="0" i="0" cap="none" dirty="0">
                <a:effectLst/>
                <a:latin typeface="Arial" panose="020B0604020202020204" pitchFamily="34" charset="0"/>
                <a:cs typeface="Arial" panose="020B0604020202020204" pitchFamily="34" charset="0"/>
              </a:rPr>
              <a:t>disnea, aumentos de temperatura y/o escalofríos.</a:t>
            </a:r>
          </a:p>
          <a:p>
            <a:r>
              <a:rPr lang="es-MX" sz="1800" cap="none" dirty="0">
                <a:latin typeface="Arial" panose="020B0604020202020204" pitchFamily="34" charset="0"/>
                <a:cs typeface="Arial" panose="020B0604020202020204" pitchFamily="34" charset="0"/>
              </a:rPr>
              <a:t>en caso de presentar reacciones alérgicas o anafilácticas  suspender de forma inmediata la solución y si la reacción es :</a:t>
            </a:r>
          </a:p>
          <a:p>
            <a:r>
              <a:rPr lang="es-MX" sz="1800" b="1" i="0" cap="none" dirty="0">
                <a:effectLst/>
                <a:latin typeface="Arial" panose="020B0604020202020204" pitchFamily="34" charset="0"/>
                <a:cs typeface="Arial" panose="020B0604020202020204" pitchFamily="34" charset="0"/>
              </a:rPr>
              <a:t>leves: </a:t>
            </a:r>
            <a:r>
              <a:rPr lang="es-MX" sz="1800" b="0" i="0" cap="none" dirty="0">
                <a:effectLst/>
                <a:latin typeface="Arial" panose="020B0604020202020204" pitchFamily="34" charset="0"/>
                <a:cs typeface="Arial" panose="020B0604020202020204" pitchFamily="34" charset="0"/>
              </a:rPr>
              <a:t>con corticoides y antihistamínicos.</a:t>
            </a:r>
          </a:p>
          <a:p>
            <a:r>
              <a:rPr lang="es-MX" sz="1800" b="1" i="0" cap="none" dirty="0">
                <a:effectLst/>
                <a:latin typeface="Arial" panose="020B0604020202020204" pitchFamily="34" charset="0"/>
                <a:cs typeface="Arial" panose="020B0604020202020204" pitchFamily="34" charset="0"/>
              </a:rPr>
              <a:t>reacciones severas</a:t>
            </a:r>
            <a:r>
              <a:rPr lang="es-MX" sz="1800" b="0" i="0" cap="none" dirty="0">
                <a:effectLst/>
                <a:latin typeface="Arial" panose="020B0604020202020204" pitchFamily="34" charset="0"/>
                <a:cs typeface="Arial" panose="020B0604020202020204" pitchFamily="34" charset="0"/>
              </a:rPr>
              <a:t>: de ser posible, inyectar adrenalina de inmediato (en forma lenta, vía </a:t>
            </a:r>
            <a:r>
              <a:rPr lang="es-MX" sz="1800" b="0" i="0" cap="none" dirty="0" err="1">
                <a:effectLst/>
                <a:latin typeface="Arial" panose="020B0604020202020204" pitchFamily="34" charset="0"/>
                <a:cs typeface="Arial" panose="020B0604020202020204" pitchFamily="34" charset="0"/>
              </a:rPr>
              <a:t>i.v</a:t>
            </a:r>
            <a:r>
              <a:rPr lang="es-MX" sz="1800" b="0" i="0" cap="none" dirty="0">
                <a:effectLst/>
                <a:latin typeface="Arial" panose="020B0604020202020204" pitchFamily="34" charset="0"/>
                <a:cs typeface="Arial" panose="020B0604020202020204" pitchFamily="34" charset="0"/>
              </a:rPr>
              <a:t>.), además de corticoides en altas dosis (en forma lenta, vía </a:t>
            </a:r>
            <a:r>
              <a:rPr lang="es-MX" sz="1800" b="0" i="0" cap="none" dirty="0" err="1">
                <a:effectLst/>
                <a:latin typeface="Arial" panose="020B0604020202020204" pitchFamily="34" charset="0"/>
                <a:cs typeface="Arial" panose="020B0604020202020204" pitchFamily="34" charset="0"/>
              </a:rPr>
              <a:t>i.v</a:t>
            </a:r>
            <a:r>
              <a:rPr lang="es-MX" sz="1800" b="0" i="0" cap="none" dirty="0">
                <a:effectLst/>
                <a:latin typeface="Arial" panose="020B0604020202020204" pitchFamily="34" charset="0"/>
                <a:cs typeface="Arial" panose="020B0604020202020204" pitchFamily="34" charset="0"/>
              </a:rPr>
              <a:t>.).</a:t>
            </a:r>
            <a:endParaRPr lang="es-CO" sz="1800" cap="none"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BF536831-293F-4A16-BB65-F812625B070E}"/>
              </a:ext>
            </a:extLst>
          </p:cNvPr>
          <p:cNvPicPr>
            <a:picLocks noChangeAspect="1"/>
          </p:cNvPicPr>
          <p:nvPr/>
        </p:nvPicPr>
        <p:blipFill>
          <a:blip r:embed="rId2"/>
          <a:stretch>
            <a:fillRect/>
          </a:stretch>
        </p:blipFill>
        <p:spPr>
          <a:xfrm>
            <a:off x="8078598" y="645951"/>
            <a:ext cx="3920773" cy="5276677"/>
          </a:xfrm>
          <a:prstGeom prst="rect">
            <a:avLst/>
          </a:prstGeom>
        </p:spPr>
      </p:pic>
    </p:spTree>
    <p:extLst>
      <p:ext uri="{BB962C8B-B14F-4D97-AF65-F5344CB8AC3E}">
        <p14:creationId xmlns:p14="http://schemas.microsoft.com/office/powerpoint/2010/main" val="817510032"/>
      </p:ext>
    </p:extLst>
  </p:cSld>
  <p:clrMapOvr>
    <a:masterClrMapping/>
  </p:clrMapOvr>
</p:sld>
</file>

<file path=ppt/theme/theme1.xml><?xml version="1.0" encoding="utf-8"?>
<a:theme xmlns:a="http://schemas.openxmlformats.org/drawingml/2006/main" name="Gota">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TM04033925[[fn=Gota]]</Template>
  <TotalTime>334</TotalTime>
  <Words>584</Words>
  <Application>Microsoft Office PowerPoint</Application>
  <PresentationFormat>Panorámica</PresentationFormat>
  <Paragraphs>36</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Tahoma</vt:lpstr>
      <vt:lpstr>Times New Roman</vt:lpstr>
      <vt:lpstr>Tw Cen MT</vt:lpstr>
      <vt:lpstr>Gota</vt:lpstr>
      <vt:lpstr>GELATINAS</vt:lpstr>
      <vt:lpstr>¿Qué son las gelatinas ?</vt:lpstr>
      <vt:lpstr> presentaciones  </vt:lpstr>
      <vt:lpstr>Advertencias </vt:lpstr>
      <vt:lpstr>GELATINA RETICULADA CON UREA</vt:lpstr>
      <vt:lpstr>Advertencias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GELATINAS</dc:title>
  <dc:creator>Negro</dc:creator>
  <cp:lastModifiedBy>Negro</cp:lastModifiedBy>
  <cp:revision>25</cp:revision>
  <dcterms:created xsi:type="dcterms:W3CDTF">2024-02-21T22:40:26Z</dcterms:created>
  <dcterms:modified xsi:type="dcterms:W3CDTF">2024-02-22T04:15:06Z</dcterms:modified>
</cp:coreProperties>
</file>